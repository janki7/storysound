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5A623"/>
                </a:solidFill>
              </a:defRPr>
            </a:pPr>
            <a:r>
              <a:t>StorySound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0EFE9"/>
                </a:solidFill>
              </a:defRPr>
            </a:pPr>
            <a:r>
              <a:t>Your Personal Audiobook Companion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6576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E9B93"/>
                </a:solidFill>
              </a:defRPr>
            </a:pPr>
            <a:r>
              <a:t>Import any book. Choose a narrator. Press play and listen.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50292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B6866"/>
                </a:solidFill>
              </a:defRPr>
            </a:pPr>
            <a:r>
              <a:t>iOS  •  Android  •  Web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5A623"/>
                </a:solidFill>
              </a:defRPr>
            </a:pPr>
            <a:r>
              <a:t>The Problem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515600" cy="105156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2200" b="1">
                <a:solidFill>
                  <a:srgbClr val="F0EFE9"/>
                </a:solidFill>
              </a:defRPr>
            </a:pPr>
            <a:r>
              <a:t>💰  Audiobooks are expensive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9E9B93"/>
                </a:solidFill>
              </a:defRPr>
            </a:pPr>
            <a:r>
              <a:t>Audible costs $14.95/month. Individual audiobooks cost $15–$40 each. Most people can’t afford to listen to every book they want.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651760"/>
            <a:ext cx="10515600" cy="105156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2200" b="1">
                <a:solidFill>
                  <a:srgbClr val="F0EFE9"/>
                </a:solidFill>
              </a:defRPr>
            </a:pPr>
            <a:r>
              <a:t>🚫  Audible doesn’t have every book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9E9B93"/>
                </a:solidFill>
              </a:defRPr>
            </a:pPr>
            <a:r>
              <a:t>Thousands of classics and niche titles are MISSING from Audible. Public domain masterpieces like many Gutenberg works simply aren’t available as audiobooks.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31920"/>
            <a:ext cx="10515600" cy="105156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2200" b="1">
                <a:solidFill>
                  <a:srgbClr val="F0EFE9"/>
                </a:solidFill>
              </a:defRPr>
            </a:pPr>
            <a:r>
              <a:t>🔇  You can’t choose the narrator on Audible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9E9B93"/>
                </a:solidFill>
              </a:defRPr>
            </a:pPr>
            <a:r>
              <a:t>Audible gives you ONE pre-recorded voice per book — no control over speed feel, tone, or pitch. Don’t like the narrator? Too bad. You’re stuck.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212079"/>
            <a:ext cx="10515600" cy="105156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2200" b="1">
                <a:solidFill>
                  <a:srgbClr val="F0EFE9"/>
                </a:solidFill>
              </a:defRPr>
            </a:pPr>
            <a:r>
              <a:t>📚  You already own books with no way to listen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9E9B93"/>
                </a:solidFill>
              </a:defRPr>
            </a:pPr>
            <a:r>
              <a:t>PDFs, EPUBs, Kindle books — sitting unread. There’s no easy way to turn your existing digital library into an audiobook experience.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5A623"/>
                </a:solidFill>
              </a:defRPr>
            </a:pPr>
            <a:r>
              <a:t>The Solution: StorySound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9E9B93"/>
                </a:solidFill>
              </a:defRPr>
            </a:pPr>
            <a:r>
              <a:t>Turn any book into an audiobook — for free, on any device, with the voice YOU choose.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94560"/>
            <a:ext cx="3291840" cy="164592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182880"/>
          <a:lstStyle/>
          <a:p>
            <a:pPr algn="ctr">
              <a:defRPr sz="3200"/>
            </a:pPr>
            <a:r>
              <a:t>📱</a:t>
            </a:r>
          </a:p>
          <a:p>
            <a:pPr algn="l">
              <a:spcBef>
                <a:spcPts val="800"/>
              </a:spcBef>
              <a:defRPr sz="2000" b="1">
                <a:solidFill>
                  <a:srgbClr val="F0EFE9"/>
                </a:solidFill>
              </a:defRPr>
            </a:pPr>
            <a:r>
              <a:t>Cross-Platform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9E9B93"/>
                </a:solidFill>
              </a:defRPr>
            </a:pPr>
            <a:r>
              <a:t>One app for iOS, Android, and Web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2194560"/>
            <a:ext cx="3291840" cy="164592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182880"/>
          <a:lstStyle/>
          <a:p>
            <a:pPr algn="ctr">
              <a:defRPr sz="3200"/>
            </a:pPr>
            <a:r>
              <a:t>📄</a:t>
            </a:r>
          </a:p>
          <a:p>
            <a:pPr algn="l">
              <a:spcBef>
                <a:spcPts val="800"/>
              </a:spcBef>
              <a:defRPr sz="2000" b="1">
                <a:solidFill>
                  <a:srgbClr val="F0EFE9"/>
                </a:solidFill>
              </a:defRPr>
            </a:pPr>
            <a:r>
              <a:t>Multi-Format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9E9B93"/>
                </a:solidFill>
              </a:defRPr>
            </a:pPr>
            <a:r>
              <a:t>Import PDF, EPUB, and TXT files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2194560"/>
            <a:ext cx="3291840" cy="164592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182880"/>
          <a:lstStyle/>
          <a:p>
            <a:pPr algn="ctr">
              <a:defRPr sz="3200"/>
            </a:pPr>
            <a:r>
              <a:t>🎭</a:t>
            </a:r>
          </a:p>
          <a:p>
            <a:pPr algn="l">
              <a:spcBef>
                <a:spcPts val="800"/>
              </a:spcBef>
              <a:defRPr sz="2000" b="1">
                <a:solidFill>
                  <a:srgbClr val="F0EFE9"/>
                </a:solidFill>
              </a:defRPr>
            </a:pPr>
            <a:r>
              <a:t>12 Narrator Styles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9E9B93"/>
                </a:solidFill>
              </a:defRPr>
            </a:pPr>
            <a:r>
              <a:t>Pick your tone: warm, dramatic, soothing...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206240"/>
            <a:ext cx="3291840" cy="164592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182880"/>
          <a:lstStyle/>
          <a:p>
            <a:pPr algn="ctr">
              <a:defRPr sz="3200"/>
            </a:pPr>
            <a:r>
              <a:t>📖</a:t>
            </a:r>
          </a:p>
          <a:p>
            <a:pPr algn="l">
              <a:spcBef>
                <a:spcPts val="800"/>
              </a:spcBef>
              <a:defRPr sz="2000" b="1">
                <a:solidFill>
                  <a:srgbClr val="F0EFE9"/>
                </a:solidFill>
              </a:defRPr>
            </a:pPr>
            <a:r>
              <a:t>Free Classics Library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9E9B93"/>
                </a:solidFill>
              </a:defRPr>
            </a:pPr>
            <a:r>
              <a:t>10 public domain masterpieces, instant play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4206240"/>
            <a:ext cx="3291840" cy="164592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182880"/>
          <a:lstStyle/>
          <a:p>
            <a:pPr algn="ctr">
              <a:defRPr sz="3200"/>
            </a:pPr>
            <a:r>
              <a:t>🔍</a:t>
            </a:r>
          </a:p>
          <a:p>
            <a:pPr algn="l">
              <a:spcBef>
                <a:spcPts val="800"/>
              </a:spcBef>
              <a:defRPr sz="2000" b="1">
                <a:solidFill>
                  <a:srgbClr val="F0EFE9"/>
                </a:solidFill>
              </a:defRPr>
            </a:pPr>
            <a:r>
              <a:t>Word Highlighting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9E9B93"/>
                </a:solidFill>
              </a:defRPr>
            </a:pPr>
            <a:r>
              <a:t>Follow along as each word is spoken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4206240"/>
            <a:ext cx="3291840" cy="164592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182880"/>
          <a:lstStyle/>
          <a:p>
            <a:pPr algn="ctr">
              <a:defRPr sz="3200"/>
            </a:pPr>
            <a:r>
              <a:t>⚡</a:t>
            </a:r>
          </a:p>
          <a:p>
            <a:pPr algn="l">
              <a:spcBef>
                <a:spcPts val="800"/>
              </a:spcBef>
              <a:defRPr sz="2000" b="1">
                <a:solidFill>
                  <a:srgbClr val="F0EFE9"/>
                </a:solidFill>
              </a:defRPr>
            </a:pPr>
            <a:r>
              <a:t>Zero Cost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9E9B93"/>
                </a:solidFill>
              </a:defRPr>
            </a:pPr>
            <a:r>
              <a:t>Free system voices — no subscription ever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EF5350"/>
                </a:solidFill>
              </a:defRPr>
            </a:pPr>
            <a:r>
              <a:t>🚫  What Audible Can’t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E9B93"/>
                </a:solidFill>
              </a:defRPr>
            </a:pPr>
            <a:r>
              <a:t>Audible is great — but it has real limitations that StorySound solves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737360"/>
            <a:ext cx="5394960" cy="1005840"/>
          </a:xfrm>
          <a:prstGeom prst="roundRect">
            <a:avLst/>
          </a:prstGeom>
          <a:solidFill>
            <a:srgbClr val="1F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/>
          <a:lstStyle/>
          <a:p>
            <a:pPr algn="ctr">
              <a:defRPr sz="1700" b="1">
                <a:solidFill>
                  <a:srgbClr val="EF5350"/>
                </a:solidFill>
              </a:defRPr>
            </a:pPr>
            <a:r>
              <a:t>❌  No voice/tone selection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9E9B93"/>
                </a:solidFill>
              </a:defRPr>
            </a:pPr>
            <a:r>
              <a:t>Audible pre-records ONE narrator per book. You have zero control over who reads to you, how fast it “feels”, or the tone of the voice.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926080"/>
            <a:ext cx="5394960" cy="1005840"/>
          </a:xfrm>
          <a:prstGeom prst="roundRect">
            <a:avLst/>
          </a:prstGeom>
          <a:solidFill>
            <a:srgbClr val="1F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/>
          <a:lstStyle/>
          <a:p>
            <a:pPr algn="ctr">
              <a:defRPr sz="1700" b="1">
                <a:solidFill>
                  <a:srgbClr val="EF5350"/>
                </a:solidFill>
              </a:defRPr>
            </a:pPr>
            <a:r>
              <a:t>❌  Missing classics &amp; niche books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9E9B93"/>
                </a:solidFill>
              </a:defRPr>
            </a:pPr>
            <a:r>
              <a:t>Thousands of public domain classics aren’t on Audible. Works by Shakespeare, Sun Tzu, H.G. Wells, Bram Stoker — many simply don’t exist as Audible audiobooks.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114800"/>
            <a:ext cx="5394960" cy="1005840"/>
          </a:xfrm>
          <a:prstGeom prst="roundRect">
            <a:avLst/>
          </a:prstGeom>
          <a:solidFill>
            <a:srgbClr val="1F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/>
          <a:lstStyle/>
          <a:p>
            <a:pPr algn="ctr">
              <a:defRPr sz="1700" b="1">
                <a:solidFill>
                  <a:srgbClr val="EF5350"/>
                </a:solidFill>
              </a:defRPr>
            </a:pPr>
            <a:r>
              <a:t>❌  No pitch control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9E9B93"/>
                </a:solidFill>
              </a:defRPr>
            </a:pPr>
            <a:r>
              <a:t>Want a deeper, more dramatic voice? A lighter, fairy-tale tone? Audible offers no pitch adjustment whatsoever.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303520"/>
            <a:ext cx="5394960" cy="1005840"/>
          </a:xfrm>
          <a:prstGeom prst="roundRect">
            <a:avLst/>
          </a:prstGeom>
          <a:solidFill>
            <a:srgbClr val="1F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/>
          <a:lstStyle/>
          <a:p>
            <a:pPr algn="ctr">
              <a:defRPr sz="1700" b="1">
                <a:solidFill>
                  <a:srgbClr val="EF5350"/>
                </a:solidFill>
              </a:defRPr>
            </a:pPr>
            <a:r>
              <a:t>❌  Can’t use your own books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9E9B93"/>
                </a:solidFill>
              </a:defRPr>
            </a:pPr>
            <a:r>
              <a:t>Have a PDF textbook or an EPUB novel? Audible won’t touch them. It only plays books purchased through its own store.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394960" cy="1005840"/>
          </a:xfrm>
          <a:prstGeom prst="roundRect">
            <a:avLst/>
          </a:prstGeom>
          <a:solidFill>
            <a:srgbClr val="121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/>
          <a:lstStyle/>
          <a:p>
            <a:pPr algn="ctr">
              <a:defRPr sz="1700" b="1">
                <a:solidFill>
                  <a:srgbClr val="4CAF50"/>
                </a:solidFill>
              </a:defRPr>
            </a:pPr>
            <a:r>
              <a:t>✅  StorySound: 12 narrator styles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9E9B93"/>
                </a:solidFill>
              </a:defRPr>
            </a:pPr>
            <a:r>
              <a:t>Choose from Storyteller, Classic Narrator, Dramatic Reader, Bedtime Reader, and 8 more — each with tuned voice, speed, and pitch.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926080"/>
            <a:ext cx="5394960" cy="1005840"/>
          </a:xfrm>
          <a:prstGeom prst="roundRect">
            <a:avLst/>
          </a:prstGeom>
          <a:solidFill>
            <a:srgbClr val="121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/>
          <a:lstStyle/>
          <a:p>
            <a:pPr algn="ctr">
              <a:defRPr sz="1700" b="1">
                <a:solidFill>
                  <a:srgbClr val="4CAF50"/>
                </a:solidFill>
              </a:defRPr>
            </a:pPr>
            <a:r>
              <a:t>✅  StorySound: Free classics built-in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9E9B93"/>
                </a:solidFill>
              </a:defRPr>
            </a:pPr>
            <a:r>
              <a:t>10 curated masterpieces from Project Gutenberg, ready to listen instantly. Plus import ANY book you own.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114800"/>
            <a:ext cx="5394960" cy="1005840"/>
          </a:xfrm>
          <a:prstGeom prst="roundRect">
            <a:avLst/>
          </a:prstGeom>
          <a:solidFill>
            <a:srgbClr val="121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/>
          <a:lstStyle/>
          <a:p>
            <a:pPr algn="ctr">
              <a:defRPr sz="1700" b="1">
                <a:solidFill>
                  <a:srgbClr val="4CAF50"/>
                </a:solidFill>
              </a:defRPr>
            </a:pPr>
            <a:r>
              <a:t>✅  StorySound: Full pitch control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9E9B93"/>
                </a:solidFill>
              </a:defRPr>
            </a:pPr>
            <a:r>
              <a:t>Adjust pitch from 0.5 to 2.0. Make any voice deeper, lighter, warmer, or more energetic to match the book’s mood.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5303520"/>
            <a:ext cx="5394960" cy="1005840"/>
          </a:xfrm>
          <a:prstGeom prst="roundRect">
            <a:avLst/>
          </a:prstGeom>
          <a:solidFill>
            <a:srgbClr val="121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/>
          <a:lstStyle/>
          <a:p>
            <a:pPr algn="ctr">
              <a:defRPr sz="1700" b="1">
                <a:solidFill>
                  <a:srgbClr val="4CAF50"/>
                </a:solidFill>
              </a:defRPr>
            </a:pPr>
            <a:r>
              <a:t>✅  StorySound: Import any file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9E9B93"/>
                </a:solidFill>
              </a:defRPr>
            </a:pPr>
            <a:r>
              <a:t>PDF, EPUB, TXT — drag and drop. Even Kindle books work after a quick free Calibre conversion.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5A623"/>
                </a:solidFill>
              </a:defRPr>
            </a:pPr>
            <a:r>
              <a:t>📚  Import Any Book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128016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defRPr sz="2000" b="1">
                <a:solidFill>
                  <a:srgbClr val="FFC107"/>
                </a:solidFill>
              </a:defRPr>
            </a:pPr>
            <a:r>
              <a:t>PDF Support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E9B93"/>
                </a:solidFill>
              </a:defRPr>
            </a:pPr>
            <a:r>
              <a:t>Upload any PDF and StorySound extracts text automatically using Mozilla’s pdf.js engine.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120640" cy="128016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defRPr sz="2000" b="1">
                <a:solidFill>
                  <a:srgbClr val="FFC107"/>
                </a:solidFill>
              </a:defRPr>
            </a:pPr>
            <a:r>
              <a:t>EPUB Support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E9B93"/>
                </a:solidFill>
              </a:defRPr>
            </a:pPr>
            <a:r>
              <a:t>Full EPUB parsing with epub.js — perfect for digital books and converted Kindle files.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017520"/>
            <a:ext cx="5120640" cy="128016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defRPr sz="2000" b="1">
                <a:solidFill>
                  <a:srgbClr val="FFC107"/>
                </a:solidFill>
              </a:defRPr>
            </a:pPr>
            <a:r>
              <a:t>Plain Text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E9B93"/>
                </a:solidFill>
              </a:defRPr>
            </a:pPr>
            <a:r>
              <a:t>Drag and drop .txt files for instant listening. No conversion needed.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017520"/>
            <a:ext cx="5120640" cy="128016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defRPr sz="2000" b="1">
                <a:solidFill>
                  <a:srgbClr val="FFC107"/>
                </a:solidFill>
              </a:defRPr>
            </a:pPr>
            <a:r>
              <a:t>Kindle Compatible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E9B93"/>
                </a:solidFill>
              </a:defRPr>
            </a:pPr>
            <a:r>
              <a:t>Convert Kindle books to EPUB using Calibre (free), then import into StorySound.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0"/>
            <a:ext cx="5120640" cy="128016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defRPr sz="2000" b="1">
                <a:solidFill>
                  <a:srgbClr val="FFC107"/>
                </a:solidFill>
              </a:defRPr>
            </a:pPr>
            <a:r>
              <a:t>Smart Chunking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E9B93"/>
                </a:solidFill>
              </a:defRPr>
            </a:pPr>
            <a:r>
              <a:t>Text is automatically split into sentences with word-level mapping for precise highlighting.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572000"/>
            <a:ext cx="5120640" cy="128016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defRPr sz="2000" b="1">
                <a:solidFill>
                  <a:srgbClr val="FFC107"/>
                </a:solidFill>
              </a:defRPr>
            </a:pPr>
            <a:r>
              <a:t>Persistent Library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E9B93"/>
                </a:solidFill>
              </a:defRPr>
            </a:pPr>
            <a:r>
              <a:t>All imported books are saved locally and persist across sessions.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5A623"/>
                </a:solidFill>
              </a:defRPr>
            </a:pPr>
            <a:r>
              <a:t>🎭  Narrator Profiles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E9B93"/>
                </a:solidFill>
              </a:defRPr>
            </a:pPr>
            <a:r>
              <a:t>Unlike Audible where you’re stuck with one pre-recorded narrator,</a:t>
            </a:r>
            <a:br/>
            <a:r>
              <a:t>StorySound gives you 12 curated styles — each with tuned voice, speed, and pitch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2606040" cy="123444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500" b="1">
                <a:solidFill>
                  <a:srgbClr val="F0EFE9"/>
                </a:solidFill>
              </a:defRPr>
            </a:pPr>
            <a:r>
              <a:t>📖  The Storyteller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9E9B93"/>
                </a:solidFill>
              </a:defRPr>
            </a:pPr>
            <a:r>
              <a:t>Warm fireside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6B6866"/>
                </a:solidFill>
              </a:defRPr>
            </a:pPr>
            <a:r>
              <a:t>Speed / Pitch: 0.95x / 0.95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2011680"/>
            <a:ext cx="2606040" cy="123444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500" b="1">
                <a:solidFill>
                  <a:srgbClr val="F0EFE9"/>
                </a:solidFill>
              </a:defRPr>
            </a:pPr>
            <a:r>
              <a:t>🎭  Classic Narrator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9E9B93"/>
                </a:solidFill>
              </a:defRPr>
            </a:pPr>
            <a:r>
              <a:t>Morgan Freeman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6B6866"/>
                </a:solidFill>
              </a:defRPr>
            </a:pPr>
            <a:r>
              <a:t>Speed / Pitch: 0.9x / 0.85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2011680"/>
            <a:ext cx="2606040" cy="123444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500" b="1">
                <a:solidFill>
                  <a:srgbClr val="F0EFE9"/>
                </a:solidFill>
              </a:defRPr>
            </a:pPr>
            <a:r>
              <a:t>🎬  Dramatic Reader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9E9B93"/>
                </a:solidFill>
              </a:defRPr>
            </a:pPr>
            <a:r>
              <a:t>Theatrical epic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6B6866"/>
                </a:solidFill>
              </a:defRPr>
            </a:pPr>
            <a:r>
              <a:t>Speed / Pitch: 0.85x / 0.75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2011680"/>
            <a:ext cx="2606040" cy="123444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500" b="1">
                <a:solidFill>
                  <a:srgbClr val="F0EFE9"/>
                </a:solidFill>
              </a:defRPr>
            </a:pPr>
            <a:r>
              <a:t>🎧  Audiobook Pro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9E9B93"/>
                </a:solidFill>
              </a:defRPr>
            </a:pPr>
            <a:r>
              <a:t>Balanced pro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6B6866"/>
                </a:solidFill>
              </a:defRPr>
            </a:pPr>
            <a:r>
              <a:t>Speed / Pitch: 1.0x / 1.0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474720"/>
            <a:ext cx="2606040" cy="123444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500" b="1">
                <a:solidFill>
                  <a:srgbClr val="F0EFE9"/>
                </a:solidFill>
              </a:defRPr>
            </a:pPr>
            <a:r>
              <a:t>📺  News Anchor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9E9B93"/>
                </a:solidFill>
              </a:defRPr>
            </a:pPr>
            <a:r>
              <a:t>Crisp broadcast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6B6866"/>
                </a:solidFill>
              </a:defRPr>
            </a:pPr>
            <a:r>
              <a:t>Speed / Pitch: 1.1x / 1.05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3474720"/>
            <a:ext cx="2606040" cy="123444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500" b="1">
                <a:solidFill>
                  <a:srgbClr val="F0EFE9"/>
                </a:solidFill>
              </a:defRPr>
            </a:pPr>
            <a:r>
              <a:t>🎙️  Podcast Host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9E9B93"/>
                </a:solidFill>
              </a:defRPr>
            </a:pPr>
            <a:r>
              <a:t>Conversational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6B6866"/>
                </a:solidFill>
              </a:defRPr>
            </a:pPr>
            <a:r>
              <a:t>Speed / Pitch: 1.05x / 1.0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474720"/>
            <a:ext cx="2606040" cy="123444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500" b="1">
                <a:solidFill>
                  <a:srgbClr val="F0EFE9"/>
                </a:solidFill>
              </a:defRPr>
            </a:pPr>
            <a:r>
              <a:t>🧙  The Wise Elder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9E9B93"/>
                </a:solidFill>
              </a:defRPr>
            </a:pPr>
            <a:r>
              <a:t>Slow gravitas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6B6866"/>
                </a:solidFill>
              </a:defRPr>
            </a:pPr>
            <a:r>
              <a:t>Speed / Pitch: 0.8x / 0.7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3474720"/>
            <a:ext cx="2606040" cy="123444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500" b="1">
                <a:solidFill>
                  <a:srgbClr val="F0EFE9"/>
                </a:solidFill>
              </a:defRPr>
            </a:pPr>
            <a:r>
              <a:t>🧚  Fairy Tale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9E9B93"/>
                </a:solidFill>
              </a:defRPr>
            </a:pPr>
            <a:r>
              <a:t>Light magical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6B6866"/>
                </a:solidFill>
              </a:defRPr>
            </a:pPr>
            <a:r>
              <a:t>Speed / Pitch: 0.9x / 1.2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937760"/>
            <a:ext cx="2606040" cy="123444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500" b="1">
                <a:solidFill>
                  <a:srgbClr val="F0EFE9"/>
                </a:solidFill>
              </a:defRPr>
            </a:pPr>
            <a:r>
              <a:t>🕵️  Mystery Narrator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9E9B93"/>
                </a:solidFill>
              </a:defRPr>
            </a:pPr>
            <a:r>
              <a:t>Suspenseful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6B6866"/>
                </a:solidFill>
              </a:defRPr>
            </a:pPr>
            <a:r>
              <a:t>Speed / Pitch: 0.85x / 0.8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4937760"/>
            <a:ext cx="2606040" cy="123444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500" b="1">
                <a:solidFill>
                  <a:srgbClr val="F0EFE9"/>
                </a:solidFill>
              </a:defRPr>
            </a:pPr>
            <a:r>
              <a:t>🌙  Bedtime Reader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9E9B93"/>
                </a:solidFill>
              </a:defRPr>
            </a:pPr>
            <a:r>
              <a:t>Soft soothing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6B6866"/>
                </a:solidFill>
              </a:defRPr>
            </a:pPr>
            <a:r>
              <a:t>Speed / Pitch: 0.75x / 0.9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4937760"/>
            <a:ext cx="2606040" cy="123444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500" b="1">
                <a:solidFill>
                  <a:srgbClr val="F0EFE9"/>
                </a:solidFill>
              </a:defRPr>
            </a:pPr>
            <a:r>
              <a:t>🧘  Meditation Guide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9E9B93"/>
                </a:solidFill>
              </a:defRPr>
            </a:pPr>
            <a:r>
              <a:t>Deeply calm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6B6866"/>
                </a:solidFill>
              </a:defRPr>
            </a:pPr>
            <a:r>
              <a:t>Speed / Pitch: 0.7x / 0.85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4937760"/>
            <a:ext cx="2606040" cy="123444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500" b="1">
                <a:solidFill>
                  <a:srgbClr val="F0EFE9"/>
                </a:solidFill>
              </a:defRPr>
            </a:pPr>
            <a:r>
              <a:t>⚡  Speed Reader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9E9B93"/>
                </a:solidFill>
              </a:defRPr>
            </a:pPr>
            <a:r>
              <a:t>Power listening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6B6866"/>
                </a:solidFill>
              </a:defRPr>
            </a:pPr>
            <a:r>
              <a:t>Speed / Pitch: 1.5x / 1.0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5A623"/>
                </a:solidFill>
              </a:defRPr>
            </a:pPr>
            <a:r>
              <a:t>📚  Free Classics Library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E9B93"/>
                </a:solidFill>
              </a:defRPr>
            </a:pPr>
            <a:r>
              <a:t>Many of these classics are NOT available on Audible, or cost $15+ each.</a:t>
            </a:r>
            <a:br/>
            <a:r>
              <a:t>StorySound includes them for free — tap to listen instantly.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2011680"/>
            <a:ext cx="2057400" cy="182880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400" b="1">
                <a:solidFill>
                  <a:srgbClr val="F0EFE9"/>
                </a:solidFill>
              </a:defRPr>
            </a:pPr>
            <a:r>
              <a:t>Pride and Prejudice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F5A623"/>
                </a:solidFill>
              </a:defRPr>
            </a:pPr>
            <a:r>
              <a:t>Jane Austen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6B6866"/>
                </a:solidFill>
              </a:defRPr>
            </a:pPr>
            <a:r>
              <a:t>Romance • 1813</a:t>
            </a:r>
          </a:p>
          <a:p>
            <a:pPr algn="l">
              <a:spcBef>
                <a:spcPts val="600"/>
              </a:spcBef>
              <a:defRPr sz="1100" b="1">
                <a:solidFill>
                  <a:srgbClr val="4CAF50"/>
                </a:solidFill>
              </a:defRPr>
            </a:pPr>
            <a:r>
              <a:t>FREE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51760" y="2011680"/>
            <a:ext cx="2057400" cy="182880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400" b="1">
                <a:solidFill>
                  <a:srgbClr val="F0EFE9"/>
                </a:solidFill>
              </a:defRPr>
            </a:pPr>
            <a:r>
              <a:t>Alice in Wonderland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F5A623"/>
                </a:solidFill>
              </a:defRPr>
            </a:pPr>
            <a:r>
              <a:t>Lewis Carroll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6B6866"/>
                </a:solidFill>
              </a:defRPr>
            </a:pPr>
            <a:r>
              <a:t>Fantasy • 1865</a:t>
            </a:r>
          </a:p>
          <a:p>
            <a:pPr algn="l">
              <a:spcBef>
                <a:spcPts val="600"/>
              </a:spcBef>
              <a:defRPr sz="1100" b="1">
                <a:solidFill>
                  <a:srgbClr val="4CAF50"/>
                </a:solidFill>
              </a:defRPr>
            </a:pPr>
            <a:r>
              <a:t>FREE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2011680"/>
            <a:ext cx="2057400" cy="182880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400" b="1">
                <a:solidFill>
                  <a:srgbClr val="F0EFE9"/>
                </a:solidFill>
              </a:defRPr>
            </a:pPr>
            <a:r>
              <a:t>Sherlock Holmes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F5A623"/>
                </a:solidFill>
              </a:defRPr>
            </a:pPr>
            <a:r>
              <a:t>A.C. Doyle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6B6866"/>
                </a:solidFill>
              </a:defRPr>
            </a:pPr>
            <a:r>
              <a:t>Mystery • 1892</a:t>
            </a:r>
          </a:p>
          <a:p>
            <a:pPr algn="l">
              <a:spcBef>
                <a:spcPts val="600"/>
              </a:spcBef>
              <a:defRPr sz="1100" b="1">
                <a:solidFill>
                  <a:srgbClr val="4CAF50"/>
                </a:solidFill>
              </a:defRPr>
            </a:pPr>
            <a:r>
              <a:t>FREE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0" y="2011680"/>
            <a:ext cx="2057400" cy="182880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400" b="1">
                <a:solidFill>
                  <a:srgbClr val="F0EFE9"/>
                </a:solidFill>
              </a:defRPr>
            </a:pPr>
            <a:r>
              <a:t>Frankenstein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F5A623"/>
                </a:solidFill>
              </a:defRPr>
            </a:pPr>
            <a:r>
              <a:t>Mary Shelley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6B6866"/>
                </a:solidFill>
              </a:defRPr>
            </a:pPr>
            <a:r>
              <a:t>Gothic • 1818</a:t>
            </a:r>
          </a:p>
          <a:p>
            <a:pPr algn="l">
              <a:spcBef>
                <a:spcPts val="600"/>
              </a:spcBef>
              <a:defRPr sz="1100" b="1">
                <a:solidFill>
                  <a:srgbClr val="4CAF50"/>
                </a:solidFill>
              </a:defRPr>
            </a:pPr>
            <a:r>
              <a:t>FREE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09760" y="2011680"/>
            <a:ext cx="2057400" cy="182880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400" b="1">
                <a:solidFill>
                  <a:srgbClr val="F0EFE9"/>
                </a:solidFill>
              </a:defRPr>
            </a:pPr>
            <a:r>
              <a:t>The Art of War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F5A623"/>
                </a:solidFill>
              </a:defRPr>
            </a:pPr>
            <a:r>
              <a:t>Sun Tzu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6B6866"/>
                </a:solidFill>
              </a:defRPr>
            </a:pPr>
            <a:r>
              <a:t>Philosophy • ~500 BC</a:t>
            </a:r>
          </a:p>
          <a:p>
            <a:pPr algn="l">
              <a:spcBef>
                <a:spcPts val="600"/>
              </a:spcBef>
              <a:defRPr sz="1100" b="1">
                <a:solidFill>
                  <a:srgbClr val="4CAF50"/>
                </a:solidFill>
              </a:defRPr>
            </a:pPr>
            <a:r>
              <a:t>FREE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4206240"/>
            <a:ext cx="2057400" cy="182880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400" b="1">
                <a:solidFill>
                  <a:srgbClr val="F0EFE9"/>
                </a:solidFill>
              </a:defRPr>
            </a:pPr>
            <a:r>
              <a:t>The Great Gatsby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F5A623"/>
                </a:solidFill>
              </a:defRPr>
            </a:pPr>
            <a:r>
              <a:t>F.S. Fitzgerald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6B6866"/>
                </a:solidFill>
              </a:defRPr>
            </a:pPr>
            <a:r>
              <a:t>Classic • 1925</a:t>
            </a:r>
          </a:p>
          <a:p>
            <a:pPr algn="l">
              <a:spcBef>
                <a:spcPts val="600"/>
              </a:spcBef>
              <a:defRPr sz="1100" b="1">
                <a:solidFill>
                  <a:srgbClr val="4CAF50"/>
                </a:solidFill>
              </a:defRPr>
            </a:pPr>
            <a:r>
              <a:t>FREE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51760" y="4206240"/>
            <a:ext cx="2057400" cy="182880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400" b="1">
                <a:solidFill>
                  <a:srgbClr val="F0EFE9"/>
                </a:solidFill>
              </a:defRPr>
            </a:pPr>
            <a:r>
              <a:t>Dracula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F5A623"/>
                </a:solidFill>
              </a:defRPr>
            </a:pPr>
            <a:r>
              <a:t>Bram Stoker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6B6866"/>
                </a:solidFill>
              </a:defRPr>
            </a:pPr>
            <a:r>
              <a:t>Horror • 1897</a:t>
            </a:r>
          </a:p>
          <a:p>
            <a:pPr algn="l">
              <a:spcBef>
                <a:spcPts val="600"/>
              </a:spcBef>
              <a:defRPr sz="1100" b="1">
                <a:solidFill>
                  <a:srgbClr val="4CAF50"/>
                </a:solidFill>
              </a:defRPr>
            </a:pPr>
            <a:r>
              <a:t>FREE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37760" y="4206240"/>
            <a:ext cx="2057400" cy="182880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400" b="1">
                <a:solidFill>
                  <a:srgbClr val="F0EFE9"/>
                </a:solidFill>
              </a:defRPr>
            </a:pPr>
            <a:r>
              <a:t>Moby Dick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F5A623"/>
                </a:solidFill>
              </a:defRPr>
            </a:pPr>
            <a:r>
              <a:t>H. Melville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6B6866"/>
                </a:solidFill>
              </a:defRPr>
            </a:pPr>
            <a:r>
              <a:t>Adventure • 1851</a:t>
            </a:r>
          </a:p>
          <a:p>
            <a:pPr algn="l">
              <a:spcBef>
                <a:spcPts val="600"/>
              </a:spcBef>
              <a:defRPr sz="1100" b="1">
                <a:solidFill>
                  <a:srgbClr val="4CAF50"/>
                </a:solidFill>
              </a:defRPr>
            </a:pPr>
            <a:r>
              <a:t>FREE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23760" y="4206240"/>
            <a:ext cx="2057400" cy="182880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400" b="1">
                <a:solidFill>
                  <a:srgbClr val="F0EFE9"/>
                </a:solidFill>
              </a:defRPr>
            </a:pPr>
            <a:r>
              <a:t>Romeo and Juliet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F5A623"/>
                </a:solidFill>
              </a:defRPr>
            </a:pPr>
            <a:r>
              <a:t>Shakespeare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6B6866"/>
                </a:solidFill>
              </a:defRPr>
            </a:pPr>
            <a:r>
              <a:t>Drama • 1597</a:t>
            </a:r>
          </a:p>
          <a:p>
            <a:pPr algn="l">
              <a:spcBef>
                <a:spcPts val="600"/>
              </a:spcBef>
              <a:defRPr sz="1100" b="1">
                <a:solidFill>
                  <a:srgbClr val="4CAF50"/>
                </a:solidFill>
              </a:defRPr>
            </a:pPr>
            <a:r>
              <a:t>FREE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9760" y="4206240"/>
            <a:ext cx="2057400" cy="182880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400" b="1">
                <a:solidFill>
                  <a:srgbClr val="F0EFE9"/>
                </a:solidFill>
              </a:defRPr>
            </a:pPr>
            <a:r>
              <a:t>The Time Machine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F5A623"/>
                </a:solidFill>
              </a:defRPr>
            </a:pPr>
            <a:r>
              <a:t>H.G. Wells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6B6866"/>
                </a:solidFill>
              </a:defRPr>
            </a:pPr>
            <a:r>
              <a:t>Sci-Fi • 1895</a:t>
            </a:r>
          </a:p>
          <a:p>
            <a:pPr algn="l">
              <a:spcBef>
                <a:spcPts val="600"/>
              </a:spcBef>
              <a:defRPr sz="1100" b="1">
                <a:solidFill>
                  <a:srgbClr val="4CAF50"/>
                </a:solidFill>
              </a:defRPr>
            </a:pPr>
            <a:r>
              <a:t>FREE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217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6866"/>
                </a:solidFill>
              </a:defRPr>
            </a:pPr>
            <a:r>
              <a:t>Powered by Project Gutenberg  •  No account required  •  Instant streaming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5A623"/>
                </a:solidFill>
              </a:defRPr>
            </a:pPr>
            <a:r>
              <a:t>🔍  Immersive Reader Experience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137160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defRPr sz="2000" b="1">
                <a:solidFill>
                  <a:srgbClr val="FFC107"/>
                </a:solidFill>
              </a:defRPr>
            </a:pPr>
            <a:r>
              <a:t>🎯  Word-Level Highlighting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E9B93"/>
                </a:solidFill>
              </a:defRPr>
            </a:pPr>
            <a:r>
              <a:t>Each word lights up as it’s spoken — like karaoke for books. Audible has no text view at all.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120640" cy="137160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defRPr sz="2000" b="1">
                <a:solidFill>
                  <a:srgbClr val="FFC107"/>
                </a:solidFill>
              </a:defRPr>
            </a:pPr>
            <a:r>
              <a:t>🔤  Adjustable Font Sizes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E9B93"/>
                </a:solidFill>
              </a:defRPr>
            </a:pPr>
            <a:r>
              <a:t>Three font sizes (S/M/L) for comfortable reading on any screen.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108960"/>
            <a:ext cx="5120640" cy="137160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defRPr sz="2000" b="1">
                <a:solidFill>
                  <a:srgbClr val="FFC107"/>
                </a:solidFill>
              </a:defRPr>
            </a:pPr>
            <a:r>
              <a:t>⏯️  Full Playback Controls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E9B93"/>
                </a:solidFill>
              </a:defRPr>
            </a:pPr>
            <a:r>
              <a:t>Play, pause, skip sentences. Music-player-like transport controls.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108960"/>
            <a:ext cx="5120640" cy="137160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defRPr sz="2000" b="1">
                <a:solidFill>
                  <a:srgbClr val="FFC107"/>
                </a:solidFill>
              </a:defRPr>
            </a:pPr>
            <a:r>
              <a:t>🎨  Audible-Inspired Dark UI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E9B93"/>
                </a:solidFill>
              </a:defRPr>
            </a:pPr>
            <a:r>
              <a:t>Beautiful dark theme that’s easy on the eyes for long sessions.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54880"/>
            <a:ext cx="5120640" cy="137160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defRPr sz="2000" b="1">
                <a:solidFill>
                  <a:srgbClr val="FFC107"/>
                </a:solidFill>
              </a:defRPr>
            </a:pPr>
            <a:r>
              <a:t>💬  Motivational Quotes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E9B93"/>
                </a:solidFill>
              </a:defRPr>
            </a:pPr>
            <a:r>
              <a:t>Rotating reading quotes on the library screen to inspire your next book.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754880"/>
            <a:ext cx="5120640" cy="137160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defRPr sz="2000" b="1">
                <a:solidFill>
                  <a:srgbClr val="FFC107"/>
                </a:solidFill>
              </a:defRPr>
            </a:pPr>
            <a:r>
              <a:t>🔧  Speed + Pitch Control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E9B93"/>
                </a:solidFill>
              </a:defRPr>
            </a:pPr>
            <a:r>
              <a:t>Speed from 0.5x to 3.0x, pitch from 0.5 to 2.0. Audible only offers speed.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5A623"/>
                </a:solidFill>
              </a:defRPr>
            </a:pPr>
            <a:r>
              <a:t>🏆  StorySound vs The Competition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280160"/>
            <a:ext cx="1773936" cy="438912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300" b="1">
                <a:solidFill>
                  <a:srgbClr val="0F1014"/>
                </a:solidFill>
              </a:defRPr>
            </a:pPr>
            <a:r>
              <a:t>Feature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1280160"/>
            <a:ext cx="2688336" cy="438912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300" b="1">
                <a:solidFill>
                  <a:srgbClr val="0F1014"/>
                </a:solidFill>
              </a:defRPr>
            </a:pPr>
            <a:r>
              <a:t>Audible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0" y="1280160"/>
            <a:ext cx="2505456" cy="438912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300" b="1">
                <a:solidFill>
                  <a:srgbClr val="0F1014"/>
                </a:solidFill>
              </a:defRPr>
            </a:pPr>
            <a:r>
              <a:t>Apple Books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280160"/>
            <a:ext cx="2871216" cy="438912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300" b="1">
                <a:solidFill>
                  <a:srgbClr val="0F1014"/>
                </a:solidFill>
              </a:defRPr>
            </a:pPr>
            <a:r>
              <a:t>StorySound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792224"/>
            <a:ext cx="1773936" cy="438912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300" b="0">
                <a:solidFill>
                  <a:srgbClr val="9E9B93"/>
                </a:solidFill>
              </a:defRPr>
            </a:pPr>
            <a:r>
              <a:t>Price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792224"/>
            <a:ext cx="2688336" cy="438912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300" b="0">
                <a:solidFill>
                  <a:srgbClr val="9E9B93"/>
                </a:solidFill>
              </a:defRPr>
            </a:pPr>
            <a:r>
              <a:t>$14.95/month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0" y="1792224"/>
            <a:ext cx="2505456" cy="438912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300" b="0">
                <a:solidFill>
                  <a:srgbClr val="9E9B93"/>
                </a:solidFill>
              </a:defRPr>
            </a:pPr>
            <a:r>
              <a:t>Per audiobook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792224"/>
            <a:ext cx="2871216" cy="438912"/>
          </a:xfrm>
          <a:prstGeom prst="roundRect">
            <a:avLst/>
          </a:prstGeom>
          <a:solidFill>
            <a:srgbClr val="121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300" b="1">
                <a:solidFill>
                  <a:srgbClr val="4CAF50"/>
                </a:solidFill>
              </a:defRPr>
            </a:pPr>
            <a:r>
              <a:t>✔ FREE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304288"/>
            <a:ext cx="1773936" cy="438912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300" b="0">
                <a:solidFill>
                  <a:srgbClr val="9E9B93"/>
                </a:solidFill>
              </a:defRPr>
            </a:pPr>
            <a:r>
              <a:t>Choose narrator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2304288"/>
            <a:ext cx="2688336" cy="438912"/>
          </a:xfrm>
          <a:prstGeom prst="roundRect">
            <a:avLst/>
          </a:prstGeom>
          <a:solidFill>
            <a:srgbClr val="1F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300" b="0">
                <a:solidFill>
                  <a:srgbClr val="CF6B6B"/>
                </a:solidFill>
              </a:defRPr>
            </a:pPr>
            <a:r>
              <a:t>❌ Stuck with one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0" y="2304288"/>
            <a:ext cx="2505456" cy="438912"/>
          </a:xfrm>
          <a:prstGeom prst="roundRect">
            <a:avLst/>
          </a:prstGeom>
          <a:solidFill>
            <a:srgbClr val="1F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300" b="0">
                <a:solidFill>
                  <a:srgbClr val="CF6B6B"/>
                </a:solidFill>
              </a:defRPr>
            </a:pPr>
            <a:r>
              <a:t>❌ Stuck with one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304288"/>
            <a:ext cx="2871216" cy="438912"/>
          </a:xfrm>
          <a:prstGeom prst="roundRect">
            <a:avLst/>
          </a:prstGeom>
          <a:solidFill>
            <a:srgbClr val="121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300" b="1">
                <a:solidFill>
                  <a:srgbClr val="4CAF50"/>
                </a:solidFill>
              </a:defRPr>
            </a:pPr>
            <a:r>
              <a:t>✔ 12 narrator styles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2816352"/>
            <a:ext cx="1773936" cy="438912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300" b="0">
                <a:solidFill>
                  <a:srgbClr val="9E9B93"/>
                </a:solidFill>
              </a:defRPr>
            </a:pPr>
            <a:r>
              <a:t>Change voice tone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0" y="2816352"/>
            <a:ext cx="2688336" cy="438912"/>
          </a:xfrm>
          <a:prstGeom prst="roundRect">
            <a:avLst/>
          </a:prstGeom>
          <a:solidFill>
            <a:srgbClr val="1F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300" b="0">
                <a:solidFill>
                  <a:srgbClr val="CF6B6B"/>
                </a:solidFill>
              </a:defRPr>
            </a:pPr>
            <a:r>
              <a:t>❌ No control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0" y="2816352"/>
            <a:ext cx="2505456" cy="438912"/>
          </a:xfrm>
          <a:prstGeom prst="roundRect">
            <a:avLst/>
          </a:prstGeom>
          <a:solidFill>
            <a:srgbClr val="1F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300" b="0">
                <a:solidFill>
                  <a:srgbClr val="CF6B6B"/>
                </a:solidFill>
              </a:defRPr>
            </a:pPr>
            <a:r>
              <a:t>❌ No control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2816352"/>
            <a:ext cx="2871216" cy="438912"/>
          </a:xfrm>
          <a:prstGeom prst="roundRect">
            <a:avLst/>
          </a:prstGeom>
          <a:solidFill>
            <a:srgbClr val="121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300" b="1">
                <a:solidFill>
                  <a:srgbClr val="4CAF50"/>
                </a:solidFill>
              </a:defRPr>
            </a:pPr>
            <a:r>
              <a:t>✔ Adjustable pitch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328416"/>
            <a:ext cx="1773936" cy="438912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300" b="0">
                <a:solidFill>
                  <a:srgbClr val="9E9B93"/>
                </a:solidFill>
              </a:defRPr>
            </a:pPr>
            <a:r>
              <a:t>Classic books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0" y="3328416"/>
            <a:ext cx="2688336" cy="438912"/>
          </a:xfrm>
          <a:prstGeom prst="roundRect">
            <a:avLst/>
          </a:prstGeom>
          <a:solidFill>
            <a:srgbClr val="1F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300" b="0">
                <a:solidFill>
                  <a:srgbClr val="CF6B6B"/>
                </a:solidFill>
              </a:defRPr>
            </a:pPr>
            <a:r>
              <a:t>❌ Many missing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0" y="3328416"/>
            <a:ext cx="2505456" cy="438912"/>
          </a:xfrm>
          <a:prstGeom prst="roundRect">
            <a:avLst/>
          </a:prstGeom>
          <a:solidFill>
            <a:srgbClr val="1F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300" b="0">
                <a:solidFill>
                  <a:srgbClr val="CF6B6B"/>
                </a:solidFill>
              </a:defRPr>
            </a:pPr>
            <a:r>
              <a:t>❌ Limited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3328416"/>
            <a:ext cx="2871216" cy="438912"/>
          </a:xfrm>
          <a:prstGeom prst="roundRect">
            <a:avLst/>
          </a:prstGeom>
          <a:solidFill>
            <a:srgbClr val="121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300" b="1">
                <a:solidFill>
                  <a:srgbClr val="4CAF50"/>
                </a:solidFill>
              </a:defRPr>
            </a:pPr>
            <a:r>
              <a:t>✔ 10 free classics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3840480"/>
            <a:ext cx="1773936" cy="438912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300" b="0">
                <a:solidFill>
                  <a:srgbClr val="9E9B93"/>
                </a:solidFill>
              </a:defRPr>
            </a:pPr>
            <a:r>
              <a:t>Import own books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0" y="3840480"/>
            <a:ext cx="2688336" cy="438912"/>
          </a:xfrm>
          <a:prstGeom prst="roundRect">
            <a:avLst/>
          </a:prstGeom>
          <a:solidFill>
            <a:srgbClr val="1F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300" b="0">
                <a:solidFill>
                  <a:srgbClr val="CF6B6B"/>
                </a:solidFill>
              </a:defRPr>
            </a:pPr>
            <a:r>
              <a:t>❌ Audible store only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0" y="3840480"/>
            <a:ext cx="2505456" cy="438912"/>
          </a:xfrm>
          <a:prstGeom prst="roundRect">
            <a:avLst/>
          </a:prstGeom>
          <a:solidFill>
            <a:srgbClr val="1F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300" b="0">
                <a:solidFill>
                  <a:srgbClr val="CF6B6B"/>
                </a:solidFill>
              </a:defRPr>
            </a:pPr>
            <a:r>
              <a:t>❌ Apple only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3840480"/>
            <a:ext cx="2871216" cy="438912"/>
          </a:xfrm>
          <a:prstGeom prst="roundRect">
            <a:avLst/>
          </a:prstGeom>
          <a:solidFill>
            <a:srgbClr val="121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300" b="1">
                <a:solidFill>
                  <a:srgbClr val="4CAF50"/>
                </a:solidFill>
              </a:defRPr>
            </a:pPr>
            <a:r>
              <a:t>✔ PDF, EPUB, TXT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4352544"/>
            <a:ext cx="1773936" cy="438912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300" b="0">
                <a:solidFill>
                  <a:srgbClr val="9E9B93"/>
                </a:solidFill>
              </a:defRPr>
            </a:pPr>
            <a:r>
              <a:t>Word highlighting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43200" y="4352544"/>
            <a:ext cx="2688336" cy="438912"/>
          </a:xfrm>
          <a:prstGeom prst="roundRect">
            <a:avLst/>
          </a:prstGeom>
          <a:solidFill>
            <a:srgbClr val="1F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300" b="0">
                <a:solidFill>
                  <a:srgbClr val="CF6B6B"/>
                </a:solidFill>
              </a:defRPr>
            </a:pPr>
            <a:r>
              <a:t>❌ No text view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0" y="4352544"/>
            <a:ext cx="2505456" cy="438912"/>
          </a:xfrm>
          <a:prstGeom prst="roundRect">
            <a:avLst/>
          </a:prstGeom>
          <a:solidFill>
            <a:srgbClr val="1F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300" b="0">
                <a:solidFill>
                  <a:srgbClr val="CF6B6B"/>
                </a:solidFill>
              </a:defRPr>
            </a:pPr>
            <a:r>
              <a:t>❌ No text view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20" y="4352544"/>
            <a:ext cx="2871216" cy="438912"/>
          </a:xfrm>
          <a:prstGeom prst="roundRect">
            <a:avLst/>
          </a:prstGeom>
          <a:solidFill>
            <a:srgbClr val="121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300" b="1">
                <a:solidFill>
                  <a:srgbClr val="4CAF50"/>
                </a:solidFill>
              </a:defRPr>
            </a:pPr>
            <a:r>
              <a:t>✔ Real-time karaoke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4864608"/>
            <a:ext cx="1773936" cy="438912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300" b="0">
                <a:solidFill>
                  <a:srgbClr val="9E9B93"/>
                </a:solidFill>
              </a:defRPr>
            </a:pPr>
            <a:r>
              <a:t>Speed control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0" y="4864608"/>
            <a:ext cx="2688336" cy="438912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300" b="0">
                <a:solidFill>
                  <a:srgbClr val="9E9B93"/>
                </a:solidFill>
              </a:defRPr>
            </a:pPr>
            <a:r>
              <a:t>✔ Yes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0" y="4864608"/>
            <a:ext cx="2505456" cy="438912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300" b="0">
                <a:solidFill>
                  <a:srgbClr val="9E9B93"/>
                </a:solidFill>
              </a:defRPr>
            </a:pPr>
            <a:r>
              <a:t>✔ Yes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46720" y="4864608"/>
            <a:ext cx="2871216" cy="438912"/>
          </a:xfrm>
          <a:prstGeom prst="roundRect">
            <a:avLst/>
          </a:prstGeom>
          <a:solidFill>
            <a:srgbClr val="121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300" b="1">
                <a:solidFill>
                  <a:srgbClr val="4CAF50"/>
                </a:solidFill>
              </a:defRPr>
            </a:pPr>
            <a:r>
              <a:t>✔ 0.5x – 3.0x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" y="5376672"/>
            <a:ext cx="1773936" cy="438912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300" b="0">
                <a:solidFill>
                  <a:srgbClr val="9E9B93"/>
                </a:solidFill>
              </a:defRPr>
            </a:pPr>
            <a:r>
              <a:t>Pitch control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743200" y="5376672"/>
            <a:ext cx="2688336" cy="438912"/>
          </a:xfrm>
          <a:prstGeom prst="roundRect">
            <a:avLst/>
          </a:prstGeom>
          <a:solidFill>
            <a:srgbClr val="1F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300" b="0">
                <a:solidFill>
                  <a:srgbClr val="CF6B6B"/>
                </a:solidFill>
              </a:defRPr>
            </a:pPr>
            <a:r>
              <a:t>❌ None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0" y="5376672"/>
            <a:ext cx="2505456" cy="438912"/>
          </a:xfrm>
          <a:prstGeom prst="roundRect">
            <a:avLst/>
          </a:prstGeom>
          <a:solidFill>
            <a:srgbClr val="1F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300" b="0">
                <a:solidFill>
                  <a:srgbClr val="CF6B6B"/>
                </a:solidFill>
              </a:defRPr>
            </a:pPr>
            <a:r>
              <a:t>❌ None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46720" y="5376672"/>
            <a:ext cx="2871216" cy="438912"/>
          </a:xfrm>
          <a:prstGeom prst="roundRect">
            <a:avLst/>
          </a:prstGeom>
          <a:solidFill>
            <a:srgbClr val="121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300" b="1">
                <a:solidFill>
                  <a:srgbClr val="4CAF50"/>
                </a:solidFill>
              </a:defRPr>
            </a:pPr>
            <a:r>
              <a:t>✔ 0.5 – 2.0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" y="5888736"/>
            <a:ext cx="1773936" cy="438912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300" b="0">
                <a:solidFill>
                  <a:srgbClr val="9E9B93"/>
                </a:solidFill>
              </a:defRPr>
            </a:pPr>
            <a:r>
              <a:t>Cross-platform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743200" y="5888736"/>
            <a:ext cx="2688336" cy="438912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300" b="0">
                <a:solidFill>
                  <a:srgbClr val="9E9B93"/>
                </a:solidFill>
              </a:defRPr>
            </a:pPr>
            <a:r>
              <a:t>✔ Yes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0" y="5888736"/>
            <a:ext cx="2505456" cy="438912"/>
          </a:xfrm>
          <a:prstGeom prst="roundRect">
            <a:avLst/>
          </a:prstGeom>
          <a:solidFill>
            <a:srgbClr val="1F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300" b="0">
                <a:solidFill>
                  <a:srgbClr val="CF6B6B"/>
                </a:solidFill>
              </a:defRPr>
            </a:pPr>
            <a:r>
              <a:t>❌ Apple only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46720" y="5888736"/>
            <a:ext cx="2871216" cy="438912"/>
          </a:xfrm>
          <a:prstGeom prst="roundRect">
            <a:avLst/>
          </a:prstGeom>
          <a:solidFill>
            <a:srgbClr val="121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300" b="1">
                <a:solidFill>
                  <a:srgbClr val="4CAF50"/>
                </a:solidFill>
              </a:defRPr>
            </a:pPr>
            <a:r>
              <a:t>✔ iOS, Android, Web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6400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6866"/>
                </a:solidFill>
              </a:defRPr>
            </a:pPr>
            <a:r>
              <a:t>Red cells = limitations users face today  •  Green cells = what StorySound delivers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5A623"/>
                </a:solidFill>
              </a:defRPr>
            </a:pPr>
            <a:r>
              <a:t>⚙️  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E9B93"/>
                </a:solidFill>
              </a:defRPr>
            </a:pPr>
            <a:r>
              <a:t>Built with modern, production-ready technologies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20640" cy="91440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/>
          <a:lstStyle/>
          <a:p>
            <a:pPr algn="ctr">
              <a:defRPr sz="1600" b="1">
                <a:solidFill>
                  <a:srgbClr val="F0EFE9"/>
                </a:solidFill>
              </a:defRPr>
            </a:pPr>
            <a:r>
              <a:t>Framework:  Expo SDK 55 + React Native 0.83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9E9B93"/>
                </a:solidFill>
              </a:defRPr>
            </a:pPr>
            <a:r>
              <a:t>Cross-platform from a single TypeScript codebase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828800"/>
            <a:ext cx="5120640" cy="91440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/>
          <a:lstStyle/>
          <a:p>
            <a:pPr algn="ctr">
              <a:defRPr sz="1600" b="1">
                <a:solidFill>
                  <a:srgbClr val="F0EFE9"/>
                </a:solidFill>
              </a:defRPr>
            </a:pPr>
            <a:r>
              <a:t>Navigation:  expo-router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9E9B93"/>
                </a:solidFill>
              </a:defRPr>
            </a:pPr>
            <a:r>
              <a:t>File-based routing with tab navigation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71800"/>
            <a:ext cx="5120640" cy="91440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/>
          <a:lstStyle/>
          <a:p>
            <a:pPr algn="ctr">
              <a:defRPr sz="1600" b="1">
                <a:solidFill>
                  <a:srgbClr val="F0EFE9"/>
                </a:solidFill>
              </a:defRPr>
            </a:pPr>
            <a:r>
              <a:t>TTS Engine:  expo-speech + Web Speech API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9E9B93"/>
                </a:solidFill>
              </a:defRPr>
            </a:pPr>
            <a:r>
              <a:t>Platform-native voices on every device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971800"/>
            <a:ext cx="5120640" cy="91440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/>
          <a:lstStyle/>
          <a:p>
            <a:pPr algn="ctr">
              <a:defRPr sz="1600" b="1">
                <a:solidFill>
                  <a:srgbClr val="F0EFE9"/>
                </a:solidFill>
              </a:defRPr>
            </a:pPr>
            <a:r>
              <a:t>PDF Parsing:  pdfjs-dist 4.10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9E9B93"/>
                </a:solidFill>
              </a:defRPr>
            </a:pPr>
            <a:r>
              <a:t>Mozilla’s PDF.js for reliable text extraction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5120640" cy="91440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/>
          <a:lstStyle/>
          <a:p>
            <a:pPr algn="ctr">
              <a:defRPr sz="1600" b="1">
                <a:solidFill>
                  <a:srgbClr val="F0EFE9"/>
                </a:solidFill>
              </a:defRPr>
            </a:pPr>
            <a:r>
              <a:t>EPUB Parsing:  epub.js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9E9B93"/>
                </a:solidFill>
              </a:defRPr>
            </a:pPr>
            <a:r>
              <a:t>Full EPUB support for digital books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114800"/>
            <a:ext cx="5120640" cy="91440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/>
          <a:lstStyle/>
          <a:p>
            <a:pPr algn="ctr">
              <a:defRPr sz="1600" b="1">
                <a:solidFill>
                  <a:srgbClr val="F0EFE9"/>
                </a:solidFill>
              </a:defRPr>
            </a:pPr>
            <a:r>
              <a:t>Storage:  AsyncStorage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9E9B93"/>
                </a:solidFill>
              </a:defRPr>
            </a:pPr>
            <a:r>
              <a:t>Persistent local library and settings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257800"/>
            <a:ext cx="5120640" cy="91440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/>
          <a:lstStyle/>
          <a:p>
            <a:pPr algn="ctr">
              <a:defRPr sz="1600" b="1">
                <a:solidFill>
                  <a:srgbClr val="F0EFE9"/>
                </a:solidFill>
              </a:defRPr>
            </a:pPr>
            <a:r>
              <a:t>Styling:  NativeWind (Tailwind CSS)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9E9B93"/>
                </a:solidFill>
              </a:defRPr>
            </a:pPr>
            <a:r>
              <a:t>Consistent styling across platforms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5257800"/>
            <a:ext cx="5120640" cy="91440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/>
          <a:lstStyle/>
          <a:p>
            <a:pPr algn="ctr">
              <a:defRPr sz="1600" b="1">
                <a:solidFill>
                  <a:srgbClr val="F0EFE9"/>
                </a:solidFill>
              </a:defRPr>
            </a:pPr>
            <a:r>
              <a:t>Typography:  Google Fonts (Lora)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9E9B93"/>
                </a:solidFill>
              </a:defRPr>
            </a:pPr>
            <a:r>
              <a:t>Beautiful serif font for immersive reading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5A623"/>
                </a:solidFill>
              </a:defRPr>
            </a:pPr>
            <a:r>
              <a:t>🚣  User Journey</a:t>
            </a:r>
          </a:p>
        </p:txBody>
      </p:sp>
      <p:sp>
        <p:nvSpPr>
          <p:cNvPr id="3" name="Oval 2"/>
          <p:cNvSpPr/>
          <p:nvPr/>
        </p:nvSpPr>
        <p:spPr>
          <a:xfrm>
            <a:off x="1051560" y="1828800"/>
            <a:ext cx="731520" cy="7315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F1014"/>
                </a:solidFill>
              </a:defRPr>
            </a:pPr>
            <a: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2926080"/>
            <a:ext cx="2103120" cy="228600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2000" b="1">
                <a:solidFill>
                  <a:srgbClr val="F0EFE9"/>
                </a:solidFill>
              </a:defRPr>
            </a:pPr>
            <a:r>
              <a:t>Onboarding</a:t>
            </a:r>
          </a:p>
          <a:p>
            <a:pPr algn="ctr">
              <a:spcBef>
                <a:spcPts val="1000"/>
              </a:spcBef>
              <a:defRPr sz="1400" b="0">
                <a:solidFill>
                  <a:srgbClr val="9E9B93"/>
                </a:solidFill>
              </a:defRPr>
            </a:pPr>
            <a:r>
              <a:t>3 beautiful slides</a:t>
            </a:r>
            <a:br/>
            <a:r>
              <a:t>introducing the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19659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5A623"/>
                </a:solidFill>
              </a:defRPr>
            </a:pPr>
            <a:r>
              <a:t>→</a:t>
            </a:r>
          </a:p>
        </p:txBody>
      </p:sp>
      <p:sp>
        <p:nvSpPr>
          <p:cNvPr id="6" name="Oval 5"/>
          <p:cNvSpPr/>
          <p:nvPr/>
        </p:nvSpPr>
        <p:spPr>
          <a:xfrm>
            <a:off x="3337560" y="1828800"/>
            <a:ext cx="731520" cy="7315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F1014"/>
                </a:solidFill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2926080"/>
            <a:ext cx="2103120" cy="228600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2000" b="1">
                <a:solidFill>
                  <a:srgbClr val="F0EFE9"/>
                </a:solidFill>
              </a:defRPr>
            </a:pPr>
            <a:r>
              <a:t>Library</a:t>
            </a:r>
          </a:p>
          <a:p>
            <a:pPr algn="ctr">
              <a:spcBef>
                <a:spcPts val="1000"/>
              </a:spcBef>
              <a:defRPr sz="1400" b="0">
                <a:solidFill>
                  <a:srgbClr val="9E9B93"/>
                </a:solidFill>
              </a:defRPr>
            </a:pPr>
            <a:r>
              <a:t>Browse books or</a:t>
            </a:r>
            <a:br/>
            <a:r>
              <a:t>pick a free classic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9659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5A623"/>
                </a:solidFill>
              </a:defRPr>
            </a:pPr>
            <a:r>
              <a:t>→</a:t>
            </a:r>
          </a:p>
        </p:txBody>
      </p:sp>
      <p:sp>
        <p:nvSpPr>
          <p:cNvPr id="9" name="Oval 8"/>
          <p:cNvSpPr/>
          <p:nvPr/>
        </p:nvSpPr>
        <p:spPr>
          <a:xfrm>
            <a:off x="5623560" y="1828800"/>
            <a:ext cx="731520" cy="7315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F1014"/>
                </a:solidFill>
              </a:defRPr>
            </a:pPr>
            <a: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7760" y="2926080"/>
            <a:ext cx="2103120" cy="228600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2000" b="1">
                <a:solidFill>
                  <a:srgbClr val="F0EFE9"/>
                </a:solidFill>
              </a:defRPr>
            </a:pPr>
            <a:r>
              <a:t>Choose Narrator</a:t>
            </a:r>
          </a:p>
          <a:p>
            <a:pPr algn="ctr">
              <a:spcBef>
                <a:spcPts val="1000"/>
              </a:spcBef>
              <a:defRPr sz="1400" b="0">
                <a:solidFill>
                  <a:srgbClr val="9E9B93"/>
                </a:solidFill>
              </a:defRPr>
            </a:pPr>
            <a:r>
              <a:t>Select from 12</a:t>
            </a:r>
            <a:br/>
            <a:r>
              <a:t>narrator styles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19659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5A623"/>
                </a:solidFill>
              </a:defRPr>
            </a:pPr>
            <a:r>
              <a:t>→</a:t>
            </a:r>
          </a:p>
        </p:txBody>
      </p:sp>
      <p:sp>
        <p:nvSpPr>
          <p:cNvPr id="12" name="Oval 11"/>
          <p:cNvSpPr/>
          <p:nvPr/>
        </p:nvSpPr>
        <p:spPr>
          <a:xfrm>
            <a:off x="7909560" y="1828800"/>
            <a:ext cx="731520" cy="7315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F1014"/>
                </a:solidFill>
              </a:defRPr>
            </a:pPr>
            <a:r>
              <a:t>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23760" y="2926080"/>
            <a:ext cx="2103120" cy="228600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2000" b="1">
                <a:solidFill>
                  <a:srgbClr val="F0EFE9"/>
                </a:solidFill>
              </a:defRPr>
            </a:pPr>
            <a:r>
              <a:t>Listen &amp; Follow</a:t>
            </a:r>
          </a:p>
          <a:p>
            <a:pPr algn="ctr">
              <a:spcBef>
                <a:spcPts val="1000"/>
              </a:spcBef>
              <a:defRPr sz="1400" b="0">
                <a:solidFill>
                  <a:srgbClr val="9E9B93"/>
                </a:solidFill>
              </a:defRPr>
            </a:pPr>
            <a:r>
              <a:t>Word highlighting</a:t>
            </a:r>
            <a:br/>
            <a:r>
              <a:t>as narrator reads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19659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5A623"/>
                </a:solidFill>
              </a:defRPr>
            </a:pPr>
            <a:r>
              <a:t>→</a:t>
            </a:r>
          </a:p>
        </p:txBody>
      </p:sp>
      <p:sp>
        <p:nvSpPr>
          <p:cNvPr id="15" name="Oval 14"/>
          <p:cNvSpPr/>
          <p:nvPr/>
        </p:nvSpPr>
        <p:spPr>
          <a:xfrm>
            <a:off x="10195560" y="1828800"/>
            <a:ext cx="731520" cy="7315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F1014"/>
                </a:solidFill>
              </a:defRPr>
            </a:pPr>
            <a:r>
              <a:t>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09760" y="2926080"/>
            <a:ext cx="2103120" cy="228600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2000" b="1">
                <a:solidFill>
                  <a:srgbClr val="F0EFE9"/>
                </a:solidFill>
              </a:defRPr>
            </a:pPr>
            <a:r>
              <a:t>Customize</a:t>
            </a:r>
          </a:p>
          <a:p>
            <a:pPr algn="ctr">
              <a:spcBef>
                <a:spcPts val="1000"/>
              </a:spcBef>
              <a:defRPr sz="1400" b="0">
                <a:solidFill>
                  <a:srgbClr val="9E9B93"/>
                </a:solidFill>
              </a:defRPr>
            </a:pPr>
            <a:r>
              <a:t>Speed, pitch,</a:t>
            </a:r>
            <a:br/>
            <a:r>
              <a:t>font, theme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5A623"/>
                </a:solidFill>
              </a:defRPr>
            </a:pPr>
            <a:r>
              <a:t>🗺️  Future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5A623"/>
                </a:solidFill>
              </a:defRPr>
            </a:pPr>
            <a:r>
              <a:t>Q2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3291840" cy="320040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spcBef>
                <a:spcPts val="1400"/>
              </a:spcBef>
              <a:defRPr sz="1600">
                <a:solidFill>
                  <a:srgbClr val="F0EFE9"/>
                </a:solidFill>
              </a:defRPr>
            </a:pPr>
            <a:r>
              <a:t>•  Bookmarks &amp; progress sync</a:t>
            </a:r>
          </a:p>
          <a:p>
            <a:pPr>
              <a:spcBef>
                <a:spcPts val="1400"/>
              </a:spcBef>
              <a:defRPr sz="1600">
                <a:solidFill>
                  <a:srgbClr val="F0EFE9"/>
                </a:solidFill>
              </a:defRPr>
            </a:pPr>
            <a:r>
              <a:t>•  Sleep timer for bedtime</a:t>
            </a:r>
          </a:p>
          <a:p>
            <a:pPr>
              <a:spcBef>
                <a:spcPts val="1400"/>
              </a:spcBef>
              <a:defRPr sz="1600">
                <a:solidFill>
                  <a:srgbClr val="F0EFE9"/>
                </a:solidFill>
              </a:defRPr>
            </a:pPr>
            <a:r>
              <a:t>•  Offline caching for free books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1463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5A623"/>
                </a:solidFill>
              </a:defRPr>
            </a:pPr>
            <a:r>
              <a:t>Q3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103120"/>
            <a:ext cx="3291840" cy="320040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spcBef>
                <a:spcPts val="1400"/>
              </a:spcBef>
              <a:defRPr sz="1600">
                <a:solidFill>
                  <a:srgbClr val="F0EFE9"/>
                </a:solidFill>
              </a:defRPr>
            </a:pPr>
            <a:r>
              <a:t>•  Cloud library sync</a:t>
            </a:r>
          </a:p>
          <a:p>
            <a:pPr>
              <a:spcBef>
                <a:spcPts val="1400"/>
              </a:spcBef>
              <a:defRPr sz="1600">
                <a:solidFill>
                  <a:srgbClr val="F0EFE9"/>
                </a:solidFill>
              </a:defRPr>
            </a:pPr>
            <a:r>
              <a:t>•  AI chapter detection</a:t>
            </a:r>
          </a:p>
          <a:p>
            <a:pPr>
              <a:spcBef>
                <a:spcPts val="1400"/>
              </a:spcBef>
              <a:defRPr sz="1600">
                <a:solidFill>
                  <a:srgbClr val="F0EFE9"/>
                </a:solidFill>
              </a:defRPr>
            </a:pPr>
            <a:r>
              <a:t>•  Custom narrator voice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1463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5A623"/>
                </a:solidFill>
              </a:defRPr>
            </a:pPr>
            <a:r>
              <a:t>Q4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103120"/>
            <a:ext cx="3291840" cy="3200400"/>
          </a:xfrm>
          <a:prstGeom prst="roundRect">
            <a:avLst/>
          </a:prstGeom>
          <a:solidFill>
            <a:srgbClr val="1A1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spcBef>
                <a:spcPts val="1400"/>
              </a:spcBef>
              <a:defRPr sz="1600">
                <a:solidFill>
                  <a:srgbClr val="F0EFE9"/>
                </a:solidFill>
              </a:defRPr>
            </a:pPr>
            <a:r>
              <a:t>•  Social reading — share highlights</a:t>
            </a:r>
          </a:p>
          <a:p>
            <a:pPr>
              <a:spcBef>
                <a:spcPts val="1400"/>
              </a:spcBef>
              <a:defRPr sz="1600">
                <a:solidFill>
                  <a:srgbClr val="F0EFE9"/>
                </a:solidFill>
              </a:defRPr>
            </a:pPr>
            <a:r>
              <a:t>•  Podcast mode for articles</a:t>
            </a:r>
          </a:p>
          <a:p>
            <a:pPr>
              <a:spcBef>
                <a:spcPts val="1400"/>
              </a:spcBef>
              <a:defRPr sz="1600">
                <a:solidFill>
                  <a:srgbClr val="F0EFE9"/>
                </a:solidFill>
              </a:defRPr>
            </a:pPr>
            <a:r>
              <a:t>•  Premium neural voices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5A623"/>
                </a:solidFill>
              </a:defRPr>
            </a:pPr>
            <a:r>
              <a:t>StorySound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F0EFE9"/>
                </a:solidFill>
              </a:defRPr>
            </a:pPr>
            <a:r>
              <a:t>“A reader lives a thousand lives before he dies.”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4903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B6866"/>
                </a:solidFill>
              </a:defRPr>
            </a:pPr>
            <a:r>
              <a:t>— George R.R. Martin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937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E9B93"/>
                </a:solidFill>
              </a:defRPr>
            </a:pPr>
            <a:r>
              <a:t>Available on iOS  •  Android  •  Web</a:t>
            </a:r>
            <a:br/>
            <a:r>
              <a:t>Free  •  No Account Required  •  Open Source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